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ato"/>
      <p:regular r:id="rId17"/>
      <p:bold r:id="rId18"/>
      <p:italic r:id="rId19"/>
      <p:boldItalic r:id="rId20"/>
    </p:embeddedFont>
    <p:embeddedFont>
      <p:font typeface="Merriweather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54BDA7-6163-4284-80F9-581AE752A46B}">
  <a:tblStyle styleId="{0354BDA7-6163-4284-80F9-581AE752A4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1428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8382000" y="0"/>
            <a:ext cx="3810000" cy="142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571500" y="1714500"/>
            <a:ext cx="11049000" cy="1905000"/>
            <a:chOff x="571500" y="1714500"/>
            <a:chExt cx="11049000" cy="1905000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571500" y="1714500"/>
              <a:ext cx="1104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400">
                  <a:solidFill>
                    <a:srgbClr val="003057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Jornada do Calouro</a:t>
              </a:r>
              <a:endParaRPr b="1" sz="6400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571500" y="304800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Diagnóstico Estratégico de Acolhimento 2023</a:t>
              </a:r>
              <a:endParaRPr b="0" sz="2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5524500" y="4000500"/>
            <a:ext cx="1143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953000"/>
            <a:ext cx="110490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Brunno Gomes de Sousa Terceiro</a:t>
            </a:r>
            <a:endParaRPr b="1" sz="1600">
              <a:solidFill>
                <a:srgbClr val="00305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Equipe de Customer Insights | Cogna Educação</a:t>
            </a:r>
            <a:endParaRPr b="0" i="1" sz="16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750456" y="2790825"/>
            <a:ext cx="869108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Metodologia e </a:t>
            </a:r>
            <a:r>
              <a:rPr b="1" i="0" lang="en-US" sz="4500" u="none" cap="none" strike="noStrike">
                <a:solidFill>
                  <a:srgbClr val="D4AF37"/>
                </a:solidFill>
                <a:latin typeface="Merriweather"/>
                <a:ea typeface="Merriweather"/>
                <a:cs typeface="Merriweather"/>
                <a:sym typeface="Merriweather"/>
              </a:rPr>
              <a:t>Transparência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957387" y="3695700"/>
            <a:ext cx="8277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Tratamento de dados e ética digital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 da Análise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Higienização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6677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Base final de 2.549 alunos. Exclusão de registros com campos de notas ausentes em P1 e P2 para garantir integridade estatística.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1322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Uso de IA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1322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Uso ético de IA para validação de fórmulas no Excel, lógica de storytelling e otimização do processamento qualitativo.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5967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Foco Acadêmico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5967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Análise segmentada por bandeiras educacionais, focando na percepção de valor durante as primeiras semanas de curso.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90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0908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09086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1681" y="2209800"/>
            <a:ext cx="2657475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9518" y="2209800"/>
            <a:ext cx="25908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Indicadores Macro de Satisfação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886325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Os resultados indicam uma Cogna na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Zona de Aperfeiçoamento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Embora o CSAT seja alto, o NPS revela oportunidades de converter Neutros em Promotores.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412206" y="2600325"/>
            <a:ext cx="18764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39.3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412206" y="3648075"/>
            <a:ext cx="1876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Lato"/>
                <a:ea typeface="Lato"/>
                <a:cs typeface="Lato"/>
                <a:sym typeface="Lato"/>
              </a:rPr>
              <a:t>NPS GERAL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970043" y="2600325"/>
            <a:ext cx="1809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8.4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970043" y="3648075"/>
            <a:ext cx="1809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Lato"/>
                <a:ea typeface="Lato"/>
                <a:cs typeface="Lato"/>
                <a:sym typeface="Lato"/>
              </a:rPr>
              <a:t>MÉDIA CSAT (P2)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825466" y="2828925"/>
            <a:ext cx="854106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Desempenho Detalhado por </a:t>
            </a:r>
            <a:r>
              <a:rPr b="1" i="0" lang="en-US" sz="3750" u="none" cap="none" strike="noStrike">
                <a:solidFill>
                  <a:srgbClr val="D4AF37"/>
                </a:solidFill>
                <a:latin typeface="Merriweather"/>
                <a:ea typeface="Merriweather"/>
                <a:cs typeface="Merriweather"/>
                <a:sym typeface="Merriweather"/>
              </a:rPr>
              <a:t>Marca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619750" y="3714750"/>
            <a:ext cx="952500" cy="285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Breakdown NPS e Share de Base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8"/>
          <p:cNvGraphicFramePr/>
          <p:nvPr/>
        </p:nvGraphicFramePr>
        <p:xfrm>
          <a:off x="571500" y="2409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{0354BDA7-6163-4284-80F9-581AE752A46B}</a:tableStyleId>
              </a:tblPr>
              <a:tblGrid>
                <a:gridCol w="1800825"/>
                <a:gridCol w="1768375"/>
                <a:gridCol w="2141625"/>
                <a:gridCol w="1703475"/>
                <a:gridCol w="2044300"/>
                <a:gridCol w="1590375"/>
              </a:tblGrid>
              <a:tr h="425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Share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 Promotores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 Neutros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 Detratores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NPS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057"/>
                    </a:solidFill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Anhanguera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68.1%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Unopar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Pitágoras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58.1%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41.9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Uniderp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38.5%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30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8"/>
          <p:cNvSpPr/>
          <p:nvPr/>
        </p:nvSpPr>
        <p:spPr>
          <a:xfrm>
            <a:off x="571500" y="32813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372320" y="32813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140696" y="32813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282332" y="32813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985819" y="32813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10030122" y="32813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37004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372320" y="37004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140696" y="37004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282332" y="37004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985819" y="37004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0030122" y="37004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1500" y="41195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372320" y="41195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140696" y="41195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282332" y="41195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985819" y="41195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0030122" y="41195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5386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372320" y="45386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140696" y="45386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282332" y="45386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985819" y="45386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0030122" y="45386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71500" y="49577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372320" y="49577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140696" y="49577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282332" y="49577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985819" y="49577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0030122" y="49577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1500" y="5376862"/>
            <a:ext cx="1800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372320" y="5376862"/>
            <a:ext cx="1768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140696" y="5376862"/>
            <a:ext cx="2141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282332" y="5376862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985819" y="5376862"/>
            <a:ext cx="2044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0030122" y="5376862"/>
            <a:ext cx="1590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2452687"/>
            <a:ext cx="8477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2928937"/>
            <a:ext cx="8477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3405187"/>
            <a:ext cx="8477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3881437"/>
            <a:ext cx="8477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4357687"/>
            <a:ext cx="8477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2452687"/>
            <a:ext cx="77990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0" y="2928937"/>
            <a:ext cx="745986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3250" y="3405187"/>
            <a:ext cx="745986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3250" y="3881437"/>
            <a:ext cx="742592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3250" y="4357687"/>
            <a:ext cx="729034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Régua de Satisfação por Atributo (Média)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4976812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Gargalo Identificado: O volume excessivo de mensagens é o principal atrito na jornada inicial.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2528887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Recepção na Unidade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3005137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 Inaugural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3481387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Acesso ao PDA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3957637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Acesso ao AVA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4433887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Qtde de Comunicações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A Voz do Aluno (Foco em Detratores)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52500" y="2041121"/>
            <a:ext cx="10287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"Nenhum professor perguntou quem era aluno novo... minha mensalidade veio a maior e não consigo resolver."</a:t>
            </a:r>
            <a:endParaRPr i="1" sz="4000"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4038225"/>
            <a:ext cx="405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— Feedback de Aluno Detrator da Anhan</a:t>
            </a:r>
            <a:r>
              <a:rPr i="1" lang="en-US"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guera </a:t>
            </a:r>
            <a:r>
              <a:rPr b="0" i="1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(Nota 0)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4600196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Principais dores latentes: </a:t>
            </a:r>
            <a:r>
              <a:rPr b="1" i="0" lang="en-US" sz="165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Inconsistência Financeira</a:t>
            </a:r>
            <a:r>
              <a:rPr b="0" i="0" lang="en-US" sz="165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i="0" lang="en-US" sz="165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Falta de Acolhimento Humano</a:t>
            </a:r>
            <a:r>
              <a:rPr b="0" i="0" lang="en-US" sz="1650" u="none" cap="none" strike="noStrike">
                <a:solidFill>
                  <a:srgbClr val="00305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57487"/>
            <a:ext cx="35559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Principais Oportunidades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86677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Saneamento Financeiro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6677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Eliminar as divergências de valores nos primeiros boletos, citada repetidamente como motivo de detração.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1322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Orquestração Digital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61322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Reduzir a frequência de disparos fragmentados para evitar a saturação do aluno calouro.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359675" y="3652837"/>
            <a:ext cx="31136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Apoio ao Transferido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359675" y="4014787"/>
            <a:ext cx="2965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Criar fluxo de boas-vindas específico para alunos que entram via transferência e se sentem desamparados.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908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0908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09086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057"/>
                </a:solidFill>
                <a:latin typeface="Merriweather"/>
                <a:ea typeface="Merriweather"/>
                <a:cs typeface="Merriweather"/>
                <a:sym typeface="Merriweather"/>
              </a:rPr>
              <a:t>Recomendações Estratégicas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285875" y="3181350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Benchmark Interno: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Replicar o modelo de acolhimento da Unopar (NPS 50+) nas unidades Unime e Unic.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285875" y="3552825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Onboarding Humano: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Implementar apresentações obrigatórias de coordenadores em todas as turmas de calouros.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285875" y="3924300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Central de Suporte: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Criar um canal prioritário para resolução de documentação e financeira no primeiro mês.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285875" y="4295775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Análise Qualitativa: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Monitoramento semântico contínuo dos comentários abertos para antecipação de churn.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224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595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671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3386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